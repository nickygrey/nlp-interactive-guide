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THE COMPLETE INTERACTIVE CURRICULUM</a:t>
            </a:r>
          </a:p>
          <a:p>
            <a:pPr>
              <a:defRPr sz="4000" b="1">
                <a:solidFill>
                  <a:srgbClr val="F8FAFC"/>
                </a:solidFill>
              </a:defRPr>
            </a:pPr>
            <a:r>
              <a:t>Natural Language Processing</a:t>
            </a:r>
          </a:p>
          <a:p>
            <a:pPr>
              <a:spcBef>
                <a:spcPts val="800"/>
              </a:spcBef>
              <a:spcAft>
                <a:spcPts val="2400"/>
              </a:spcAft>
              <a:defRPr sz="2000">
                <a:solidFill>
                  <a:srgbClr val="818CF8"/>
                </a:solidFill>
              </a:defRPr>
            </a:pPr>
            <a:r>
              <a:t>An Immersive Journey: From Human Words to Machine Intelligence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Crafted for both non-technical explorers (intuitive real-world metaphors) and engineers (mathematical mechanics &amp; production realities).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CURRICULUM OVERVIEW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5 Acts of Natural Language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38BDF8"/>
                </a:solidFill>
              </a:defRPr>
            </a:pPr>
            <a:r>
              <a:t>Act I: Foundations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1. What is NLP?
</a:t>
            </a:r>
            <a:r>
              <a:rPr sz="900">
                <a:solidFill>
                  <a:srgbClr val="94A3B8"/>
                </a:solidFill>
              </a:rPr>
              <a:t>The bridge between human language and computer logic.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2. Exploring Text Data
</a:t>
            </a:r>
            <a:r>
              <a:rPr sz="900">
                <a:solidFill>
                  <a:srgbClr val="94A3B8"/>
                </a:solidFill>
              </a:rPr>
              <a:t>Profiling corpus statistics and Zipf's Law.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3. Cleaning &amp; Normalizing
</a:t>
            </a:r>
            <a:r>
              <a:rPr sz="900">
                <a:solidFill>
                  <a:srgbClr val="94A3B8"/>
                </a:solidFill>
              </a:rPr>
              <a:t>Peeling the noise: regex, case, and stopwords.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4. spaCy vs. NLTK
</a:t>
            </a:r>
            <a:r>
              <a:rPr sz="900">
                <a:solidFill>
                  <a:srgbClr val="94A3B8"/>
                </a:solidFill>
              </a:rPr>
              <a:t>Assembly-line factory vs academic laboratory.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55448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818CF8"/>
                </a:solidFill>
              </a:defRPr>
            </a:pPr>
            <a:r>
              <a:t>Act II: Linguistic Units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5. What is Tokenization?
</a:t>
            </a:r>
            <a:r>
              <a:rPr sz="900">
                <a:solidFill>
                  <a:srgbClr val="94A3B8"/>
                </a:solidFill>
              </a:rPr>
              <a:t>Slicing text into Lego bricks (Words vs BPE).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6. Stemming vs Lemmatization
</a:t>
            </a:r>
            <a:r>
              <a:rPr sz="900">
                <a:solidFill>
                  <a:srgbClr val="94A3B8"/>
                </a:solidFill>
              </a:rPr>
              <a:t>The lawnmower weed-whacker vs the botanist.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55448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34D399"/>
                </a:solidFill>
              </a:defRPr>
            </a:pPr>
            <a:r>
              <a:t>Act III: The Math Bridge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7. Vectorizing Text
</a:t>
            </a:r>
            <a:r>
              <a:rPr sz="900">
                <a:solidFill>
                  <a:srgbClr val="94A3B8"/>
                </a:solidFill>
              </a:rPr>
              <a:t>Mapping thoughts into numeric GPS coordinates.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8. Bag-of-Words vs TF-IDF
</a:t>
            </a:r>
            <a:r>
              <a:rPr sz="900">
                <a:solidFill>
                  <a:srgbClr val="94A3B8"/>
                </a:solidFill>
              </a:rPr>
              <a:t>Raw frequency counts vs informational salience.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9. Word Embeddings
</a:t>
            </a:r>
            <a:r>
              <a:rPr sz="900">
                <a:solidFill>
                  <a:srgbClr val="94A3B8"/>
                </a:solidFill>
              </a:rPr>
              <a:t>The constellation map of meaning.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10. Word2Vec &amp; GloVe
</a:t>
            </a:r>
            <a:r>
              <a:rPr sz="900">
                <a:solidFill>
                  <a:srgbClr val="94A3B8"/>
                </a:solidFill>
              </a:rPr>
              <a:t>Predictive windows vs global co-occurrence.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55448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F472B6"/>
                </a:solidFill>
              </a:defRPr>
            </a:pPr>
            <a:r>
              <a:t>Act IV: Extracting Insight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11. Named Entity Rec. (NER)
</a:t>
            </a:r>
            <a:r>
              <a:rPr sz="900">
                <a:solidFill>
                  <a:srgbClr val="94A3B8"/>
                </a:solidFill>
              </a:rPr>
              <a:t>The secret agent highlighter pen.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12. Sentiment Analysis
</a:t>
            </a:r>
            <a:r>
              <a:rPr sz="900">
                <a:solidFill>
                  <a:srgbClr val="94A3B8"/>
                </a:solidFill>
              </a:rPr>
              <a:t>Digital mood ring and emotional thermometer.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13. Topic Modeling (LDA)
</a:t>
            </a:r>
            <a:r>
              <a:rPr sz="900">
                <a:solidFill>
                  <a:srgbClr val="94A3B8"/>
                </a:solidFill>
              </a:rPr>
              <a:t>The automated library sorting hat.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14. Text Classification
</a:t>
            </a:r>
            <a:r>
              <a:rPr sz="900">
                <a:solidFill>
                  <a:srgbClr val="94A3B8"/>
                </a:solidFill>
              </a:rPr>
              <a:t>The postal service sorting machine.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55448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FBBF24"/>
                </a:solidFill>
              </a:defRPr>
            </a:pPr>
            <a:r>
              <a:t>Act V: The Frontier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15. What's Next in NLP?
</a:t>
            </a:r>
            <a:r>
              <a:rPr sz="900">
                <a:solidFill>
                  <a:srgbClr val="94A3B8"/>
                </a:solidFill>
              </a:rPr>
              <a:t>The Transformer revolution, LLMs, and autonomous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I: FOUNDATIONS OF LANGUAGE &amp; MACHINES  •  QUESTION 1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What is NLP? (Natural Language Processing)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Teaching computers to comprehend, interpret, and generate human language.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The Alien Anthropologist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The Human Riddle: </a:t>
            </a:r>
            <a:r>
              <a:rPr b="0" sz="1100">
                <a:solidFill>
                  <a:srgbClr val="94A3B8"/>
                </a:solidFill>
              </a:rPr>
              <a:t>Imagine an alien visiting Earth who only understands rigid binary code (1s and 0s). It tries to understand human conversations where people make puns, speak sarcastically, and use ambiguous slang.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Why Computers Struggle: </a:t>
            </a:r>
            <a:r>
              <a:rPr b="0" sz="1100">
                <a:solidFill>
                  <a:srgbClr val="94A3B8"/>
                </a:solidFill>
              </a:rPr>
              <a:t>When a human says 'I saw her duck', we instantly know whether she crouched down or held a pet waterfowl. A computer has no physical intuition—it must learn context statistically.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The Engineering Reality: The 4 Linguistic Layers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1. Morphology: </a:t>
            </a:r>
            <a:r>
              <a:rPr b="0" sz="1100">
                <a:solidFill>
                  <a:srgbClr val="94A3B8"/>
                </a:solidFill>
              </a:rPr>
              <a:t>Breaking character streams into prefixes, roots, and suffixes.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2. Syntax &amp; Grammar: </a:t>
            </a:r>
            <a:r>
              <a:rPr b="0" sz="1100">
                <a:solidFill>
                  <a:srgbClr val="94A3B8"/>
                </a:solidFill>
              </a:rPr>
              <a:t>Constructing dependency trees (Subject-Verb-Object).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3. Semantics: </a:t>
            </a:r>
            <a:r>
              <a:rPr b="0" sz="1100">
                <a:solidFill>
                  <a:srgbClr val="94A3B8"/>
                </a:solidFill>
              </a:rPr>
              <a:t>Extracting literal meaning and resolving word senses.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4. Pragmatics: </a:t>
            </a:r>
            <a:r>
              <a:rPr b="0" sz="1100">
                <a:solidFill>
                  <a:srgbClr val="94A3B8"/>
                </a:solidFill>
              </a:rPr>
              <a:t>Inferring conversational intent, emotion, and tone.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Real-World Impact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Everyday Tech: </a:t>
            </a:r>
            <a:r>
              <a:rPr b="0" sz="1100">
                <a:solidFill>
                  <a:srgbClr val="94A3B8"/>
                </a:solidFill>
              </a:rPr>
              <a:t>Powers Google Search autocomplete, Siri, spam filters, real-time speech translation, and ChatGPT.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I: FOUNDATIONS OF LANGUAGE &amp; MACHINES  •  QUESTION 2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How to Explore Text Data? (Text EDA)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Profiling your corpus before feeding it into machine learning models.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The Bookstore Inventory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The Shopkeeper's Audit: </a:t>
            </a:r>
            <a:r>
              <a:rPr b="0" sz="1100">
                <a:solidFill>
                  <a:srgbClr val="94A3B8"/>
                </a:solidFill>
              </a:rPr>
              <a:t>Before opening a bookstore, you inspect the inventory: Are the books 10-page children's poems or 1,000-page medical textbooks? Which words appear on every single page?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Zipf's Law in Plain English: </a:t>
            </a:r>
            <a:r>
              <a:rPr b="0" sz="1100">
                <a:solidFill>
                  <a:srgbClr val="94A3B8"/>
                </a:solidFill>
              </a:rPr>
              <a:t>In any language, a tiny handful of words do 90% of the heavy lifting. The word 'the' appears twice as often as the 2nd most common word, and 10x more than the 10th.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Key Mathematical Metrics to Profile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Type-Token Ratio (TTR): </a:t>
            </a:r>
            <a:r>
              <a:rPr b="0" sz="1100">
                <a:solidFill>
                  <a:srgbClr val="94A3B8"/>
                </a:solidFill>
              </a:rPr>
              <a:t>Unique Words / Total Tokens. Measures vocabulary diversity.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Length Distribution: </a:t>
            </a:r>
            <a:r>
              <a:rPr b="0" sz="1100">
                <a:solidFill>
                  <a:srgbClr val="94A3B8"/>
                </a:solidFill>
              </a:rPr>
              <a:t>Document length histograms dictate GPU memory batch padding.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N-gram Frequencies: </a:t>
            </a:r>
            <a:r>
              <a:rPr b="0" sz="1100">
                <a:solidFill>
                  <a:srgbClr val="94A3B8"/>
                </a:solidFill>
              </a:rPr>
              <a:t>Unigrams ('machine'), Bigrams ('machine learning'), Trigrams ('deep neural network').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Why It Matters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Preventing Waste: </a:t>
            </a:r>
            <a:r>
              <a:rPr b="0" sz="1100">
                <a:solidFill>
                  <a:srgbClr val="94A3B8"/>
                </a:solidFill>
              </a:rPr>
              <a:t>Catches biased datasets, spam noise, and corrupted encodings before spending thousands on model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I: FOUNDATIONS OF LANGUAGE &amp; MACHINES  •  QUESTION 3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Why Clean and Normalize Text?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Eliminating surface noise so models can discover true semantic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Peeling &amp; Washing Potatoes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Raw Soil vs Clean Cooking: </a:t>
            </a:r>
            <a:r>
              <a:rPr b="0" sz="1100">
                <a:solidFill>
                  <a:srgbClr val="94A3B8"/>
                </a:solidFill>
              </a:rPr>
              <a:t>You don't throw muddy, unwashed potatoes with dirt and leaves directly into a soup. You scrub off the dirt, peel the skin, and cut them into uniform bite-sized cubes.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The Computer's Blind Spot: </a:t>
            </a:r>
            <a:r>
              <a:rPr b="0" sz="1100">
                <a:solidFill>
                  <a:srgbClr val="94A3B8"/>
                </a:solidFill>
              </a:rPr>
              <a:t>To a computer, 'Car', 'car!', 'CARS', and '&lt;b&gt;car&lt;/b&gt;' look like four totally unrelated objects. Cleaning bridges them all to a single concept: 'car'.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The 5 Essential Cleaning Operations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1. Case Folding: </a:t>
            </a:r>
            <a:r>
              <a:rPr b="0" sz="1100">
                <a:solidFill>
                  <a:srgbClr val="94A3B8"/>
                </a:solidFill>
              </a:rPr>
              <a:t>Converting to lowercase (except when uppercase carries entity meaning).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2. Regex Stripping: </a:t>
            </a:r>
            <a:r>
              <a:rPr b="0" sz="1100">
                <a:solidFill>
                  <a:srgbClr val="94A3B8"/>
                </a:solidFill>
              </a:rPr>
              <a:t>Removing HTML tags, URLs, Twitter handles, and noise symbols.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3. Unicode Normalization: </a:t>
            </a:r>
            <a:r>
              <a:rPr b="0" sz="1100">
                <a:solidFill>
                  <a:srgbClr val="94A3B8"/>
                </a:solidFill>
              </a:rPr>
              <a:t>Standardizing accents (NFKD: 'café' vs 'cafe') and curly quotes.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4. Stopword Removal: </a:t>
            </a:r>
            <a:r>
              <a:rPr b="0" sz="1100">
                <a:solidFill>
                  <a:srgbClr val="94A3B8"/>
                </a:solidFill>
              </a:rPr>
              <a:t>Filtering ubiquitous filler words ('the', 'is') for classical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Critical Warning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Modern LLM Note: </a:t>
            </a:r>
            <a:r>
              <a:rPr b="0" sz="1100">
                <a:solidFill>
                  <a:srgbClr val="94A3B8"/>
                </a:solidFill>
              </a:rPr>
              <a:t>Do NOT strip stopwords or punctuation for Transformers! Attention needs pronouns ('it', 'she') and punctuation to understand relationships.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I: FOUNDATIONS OF LANGUAGE &amp; MACHINES  •  QUESTION 4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How to Use spaCy vs. NLTK?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Choosing between production-grade speed and academic research breadth.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The Assembly Factory vs The Artisan Woodshop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spaCy (The Ford Factory): </a:t>
            </a:r>
            <a:r>
              <a:rPr b="0" sz="1100">
                <a:solidFill>
                  <a:srgbClr val="94A3B8"/>
                </a:solidFill>
              </a:rPr>
              <a:t>Built like a modern automated assembly line in C. You put a sentence in one end, and it instantly emerges with tokens, parts of speech, and entities attached in one lightning pass.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NLTK (The University Woodshop): </a:t>
            </a:r>
            <a:r>
              <a:rPr b="0" sz="1100">
                <a:solidFill>
                  <a:srgbClr val="94A3B8"/>
                </a:solidFill>
              </a:rPr>
              <a:t>A classroom workshop with 20 different hand chisels. Excellent for students learning how a chisel is built, but slower if you need to build 10,000 chairs an hour.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Direct Architectural Comparison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Speed &amp; Backend: </a:t>
            </a:r>
            <a:r>
              <a:rPr b="0" sz="1100">
                <a:solidFill>
                  <a:srgbClr val="94A3B8"/>
                </a:solidFill>
              </a:rPr>
              <a:t>spaCy is Cython-compiled (C-speed); NLTK is pure Python.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Data Structures: </a:t>
            </a:r>
            <a:r>
              <a:rPr b="0" sz="1100">
                <a:solidFill>
                  <a:srgbClr val="94A3B8"/>
                </a:solidFill>
              </a:rPr>
              <a:t>spaCy uses unified C-struct 'Doc' objects; NLTK passes standard Python lists and tuples.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Deep Learning: </a:t>
            </a:r>
            <a:r>
              <a:rPr b="0" sz="1100">
                <a:solidFill>
                  <a:srgbClr val="94A3B8"/>
                </a:solidFill>
              </a:rPr>
              <a:t>spaCy connects natively with PyTorch and Transformers; NLTK is classical statistical NLP.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When to Choose Which?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Production Rule: </a:t>
            </a:r>
            <a:r>
              <a:rPr b="0" sz="1100">
                <a:solidFill>
                  <a:srgbClr val="94A3B8"/>
                </a:solidFill>
              </a:rPr>
              <a:t>Use spaCy for production backend APIs and web services. Use NLTK for classroom teaching and prototyping research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II: LINGUISTIC DISSECTION  •  QUESTION 5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What is Tokenization?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Discretizing continuous human speech and text into atomic mathematical units.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Breaking Language into Lego Bricks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The Lego Castle: </a:t>
            </a:r>
            <a:r>
              <a:rPr b="0" sz="1100">
                <a:solidFill>
                  <a:srgbClr val="94A3B8"/>
                </a:solidFill>
              </a:rPr>
              <a:t>Imagine a massive Lego castle. You cannot feed the entire castle into a tiny machine. You must break it down into standard bricks so the machine can catalog every piece.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Why Spaces Aren't Enough: </a:t>
            </a:r>
            <a:r>
              <a:rPr b="0" sz="1100">
                <a:solidFill>
                  <a:srgbClr val="94A3B8"/>
                </a:solidFill>
              </a:rPr>
              <a:t>Languages like Chinese and Japanese don't use spaces between words! And in English, compound words like 'ice cream' or abbreviations like 'Ph.D.' break simple space splitting.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The 3 Granularity Levels &amp; BPE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Word Tokenization: </a:t>
            </a:r>
            <a:r>
              <a:rPr b="0" sz="1100">
                <a:solidFill>
                  <a:srgbClr val="94A3B8"/>
                </a:solidFill>
              </a:rPr>
              <a:t>Splits on spaces. Problem: Millions of words, breaks on typos and new words.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Character Tokenization: </a:t>
            </a:r>
            <a:r>
              <a:rPr b="0" sz="1100">
                <a:solidFill>
                  <a:srgbClr val="94A3B8"/>
                </a:solidFill>
              </a:rPr>
              <a:t>Splits into letters. Tiny vocabulary (~256 bytes), but sentences become 10x longer.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Byte-Pair Encoding (BPE): </a:t>
            </a:r>
            <a:r>
              <a:rPr b="0" sz="1100">
                <a:solidFill>
                  <a:srgbClr val="94A3B8"/>
                </a:solidFill>
              </a:rPr>
              <a:t>The modern standard (GPT, Llama). Frequent words stay whole; rare words break into subwords ('un' + 'believ' + 'able'). Zero Out-of-Vocabulary errors!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Key Industry Fact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LLM Pricing &amp; Limits: </a:t>
            </a:r>
            <a:r>
              <a:rPr b="0" sz="1100">
                <a:solidFill>
                  <a:srgbClr val="94A3B8"/>
                </a:solidFill>
              </a:rPr>
              <a:t>Tokenization is why AI companies charge 'per 1,000 tokens'—tokens are the fundamental compute currency of modern 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II: LINGUISTIC DISSECTION  •  QUESTION 6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Stemming vs. Lemmatization?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The butcher's cleaver versus the surgeon's dictionary scalpel.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The Lawnmower vs The Botanist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Stemming (The Lawnmower): </a:t>
            </a:r>
            <a:r>
              <a:rPr b="0" sz="1100">
                <a:solidFill>
                  <a:srgbClr val="94A3B8"/>
                </a:solidFill>
              </a:rPr>
              <a:t>Drives blindly over words with mechanical rules and chops off the ends. 'Studies' becomes 'studi', 'wolves' becomes 'wolv'. Fast, but leaves mutilated non-words.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Lemmatization (The Botanist): </a:t>
            </a:r>
            <a:r>
              <a:rPr b="0" sz="1100">
                <a:solidFill>
                  <a:srgbClr val="94A3B8"/>
                </a:solidFill>
              </a:rPr>
              <a:t>Inspects each word, looks up its dictionary family, and checks how it is used in the sentence. It knows 'wolves' comes from 'wolf', and 'better' comes from 'good'.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Under the Hood: Rules vs Morphological Dictionaries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Porter Stemmer (1980): </a:t>
            </a:r>
            <a:r>
              <a:rPr b="0" sz="1100">
                <a:solidFill>
                  <a:srgbClr val="94A3B8"/>
                </a:solidFill>
              </a:rPr>
              <a:t>Sequential heuristic suffix stripping rules. Does not know Part of Speech (POS).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Lemmatizer (WordNet / spaCy): </a:t>
            </a:r>
            <a:r>
              <a:rPr b="0" sz="1100">
                <a:solidFill>
                  <a:srgbClr val="94A3B8"/>
                </a:solidFill>
              </a:rPr>
              <a:t>Requires POS tagging to disambiguate: 'meeting' as a Noun stays 'meeting', but as a Verb becomes 'meet'.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Irregular Grammar: </a:t>
            </a:r>
            <a:r>
              <a:rPr b="0" sz="1100">
                <a:solidFill>
                  <a:srgbClr val="94A3B8"/>
                </a:solidFill>
              </a:rPr>
              <a:t>Only Lemmatizers can reduce irregular past tenses ('was' -&gt; 'be', 'ran' -&gt; 'run').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Decision Guide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When to use which?: </a:t>
            </a:r>
            <a:r>
              <a:rPr b="0" sz="1100">
                <a:solidFill>
                  <a:srgbClr val="94A3B8"/>
                </a:solidFill>
              </a:rPr>
              <a:t>Use Stemming for fast search indexing (Elasticsearch) where speed is king. Use Lemmatization for sentiment, chatbots, and grammar analysis where meaning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III: THE MATHEMATICAL BRIDGE  •  QUESTION 7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How to Vectorize Text?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Mapping human thoughts into high-dimensional numerical coordinates.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GPS Coordinates for Thoughts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Numbers Speak to Math: </a:t>
            </a:r>
            <a:r>
              <a:rPr b="0" sz="1100">
                <a:solidFill>
                  <a:srgbClr val="94A3B8"/>
                </a:solidFill>
              </a:rPr>
              <a:t>Calculators cannot multiply the word 'cat' by the word 'dog'. Linear algebra requires numbers.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Mapping on a Globe: </a:t>
            </a:r>
            <a:r>
              <a:rPr b="0" sz="1100">
                <a:solidFill>
                  <a:srgbClr val="94A3B8"/>
                </a:solidFill>
              </a:rPr>
              <a:t>Just as GPS assigns latitude and longitude to cities so a map can measure the distance between New York and London, vectorization assigns numbers to words so models can measure distance between ideas.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The 3 Eras of Vectorization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1. One-Hot Encoding: </a:t>
            </a:r>
            <a:r>
              <a:rPr b="0" sz="1100">
                <a:solidFill>
                  <a:srgbClr val="94A3B8"/>
                </a:solidFill>
              </a:rPr>
              <a:t>A vector of length 50,000 with a single '1' and 49,999 '0's. Vast, sparse, zero semantics.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2. Frequency Vectors (BoW): </a:t>
            </a:r>
            <a:r>
              <a:rPr b="0" sz="1100">
                <a:solidFill>
                  <a:srgbClr val="94A3B8"/>
                </a:solidFill>
              </a:rPr>
              <a:t>Counting how many times each vocabulary word appears in a document.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3. Dense Embeddings: </a:t>
            </a:r>
            <a:r>
              <a:rPr b="0" sz="1100">
                <a:solidFill>
                  <a:srgbClr val="94A3B8"/>
                </a:solidFill>
              </a:rPr>
              <a:t>A compact continuous array (e.g. 768 dimensions) where every number represents a learned abstract feature.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The Math Reality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Curse of Dimensionality: </a:t>
            </a:r>
            <a:r>
              <a:rPr b="0" sz="1100">
                <a:solidFill>
                  <a:srgbClr val="94A3B8"/>
                </a:solidFill>
              </a:rPr>
              <a:t>Dense vectors condense 99.9% sparse matrices into compact continuous geometry, saving gigabytes of memory.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III: THE MATHEMATICAL BRIDGE  •  QUESTION 8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Bag-of-Words vs. TF-IDF?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Balancing local word frequency with global informational rarity.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The Dumb Counter vs The Smart Highlighter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The Dumb Counter (BoW): </a:t>
            </a:r>
            <a:r>
              <a:rPr b="0" sz="1100">
                <a:solidFill>
                  <a:srgbClr val="94A3B8"/>
                </a:solidFill>
              </a:rPr>
              <a:t>Counts every word equally. It looks at an article about cancer and announces: 'The most important words are THE, AND, IS, and OF!' It is blinded by ubiquitous filler words.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The Smart Highlighter (TF-IDF): </a:t>
            </a:r>
            <a:r>
              <a:rPr b="0" sz="1100">
                <a:solidFill>
                  <a:srgbClr val="94A3B8"/>
                </a:solidFill>
              </a:rPr>
              <a:t>Dims words that appear in every book in the library, and brightly highlights words that are unique to this specific document (like 'chemotherapy' or 'oncology').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The TF-IDF Mathematical Balance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Term Frequency (TF): </a:t>
            </a:r>
            <a:r>
              <a:rPr b="0" sz="1100">
                <a:solidFill>
                  <a:srgbClr val="94A3B8"/>
                </a:solidFill>
              </a:rPr>
              <a:t>How often term 't' appears inside document 'd' divided by document length.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Inverse Document Frequency (IDF): </a:t>
            </a:r>
            <a:r>
              <a:rPr b="0" sz="1100">
                <a:solidFill>
                  <a:srgbClr val="94A3B8"/>
                </a:solidFill>
              </a:rPr>
              <a:t>log( Total Documents / Documents containing 't' ). Penalizes ubiquitous words!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Combined Weight: </a:t>
            </a:r>
            <a:r>
              <a:rPr b="0" sz="1100">
                <a:solidFill>
                  <a:srgbClr val="94A3B8"/>
                </a:solidFill>
              </a:rPr>
              <a:t>TF-IDF = TF x IDF. Words in 100% of documents get weight ~0; rare signature keywords get high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Practical Usage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Search Engines: </a:t>
            </a:r>
            <a:r>
              <a:rPr b="0" sz="1100">
                <a:solidFill>
                  <a:srgbClr val="94A3B8"/>
                </a:solidFill>
              </a:rPr>
              <a:t>TF-IDF was the foundational algorithm of information retrieval and document search before deep learning.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III: THE MATHEMATICAL BRIDGE  •  QUESTION 9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What are Word Embeddings?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Dense continuous semantic geometry and the algebra of meaning.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The Star Constellation Map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Celestial Coordinates: </a:t>
            </a:r>
            <a:r>
              <a:rPr b="0" sz="1100">
                <a:solidFill>
                  <a:srgbClr val="94A3B8"/>
                </a:solidFill>
              </a:rPr>
              <a:t>Imagine every word is a star in the galaxy. Words with similar meanings cluster together in the same constellation: 'apple', 'banana', and 'orange' live near each other; 'car', 'truck', and 'bus' live in another cluster.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Vector Algebra Magic: </a:t>
            </a:r>
            <a:r>
              <a:rPr b="0" sz="1100">
                <a:solidFill>
                  <a:srgbClr val="94A3B8"/>
                </a:solidFill>
              </a:rPr>
              <a:t>Because concepts have directional coordinates, you can do arithmetic: Starting at 'King', subtracting 'Man', and adding 'Woman' points straight at 'Queen'!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Measuring Distance: Cosine Similarity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Cosine Similarity Formula: </a:t>
            </a:r>
            <a:r>
              <a:rPr b="0" sz="1100">
                <a:solidFill>
                  <a:srgbClr val="94A3B8"/>
                </a:solidFill>
              </a:rPr>
              <a:t>cos(θ) = (u · v) / (||u|| x ||v||). Measures the angle between vectors rather than Euclidean length.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+1.0 Score: </a:t>
            </a:r>
            <a:r>
              <a:rPr b="0" sz="1100">
                <a:solidFill>
                  <a:srgbClr val="94A3B8"/>
                </a:solidFill>
              </a:rPr>
              <a:t>Collinear vectors pointing in the exact same semantic direction.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0.0 Score: </a:t>
            </a:r>
            <a:r>
              <a:rPr b="0" sz="1100">
                <a:solidFill>
                  <a:srgbClr val="94A3B8"/>
                </a:solidFill>
              </a:rPr>
              <a:t>Orthogonal, completely unrelated concepts (e.g., 'banana' and 'quantum').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-1.0 Score: </a:t>
            </a:r>
            <a:r>
              <a:rPr b="0" sz="1100">
                <a:solidFill>
                  <a:srgbClr val="94A3B8"/>
                </a:solidFill>
              </a:rPr>
              <a:t>Diametrically opposed concepts.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Famous Linguistic Principle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Firth's Law (1957): </a:t>
            </a:r>
            <a:r>
              <a:rPr b="0" sz="1100">
                <a:solidFill>
                  <a:srgbClr val="94A3B8"/>
                </a:solidFill>
              </a:rPr>
              <a:t>'You shall know a word by the company it keeps.' Words surrounded by identical contexts share identical coordinates.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III: THE MATHEMATICAL BRIDGE  •  QUESTION 10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How to Use Word2Vec &amp; GloVe?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Predictive sliding windows versus global co-occurrence matrix factorization.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Playing the 'Fill-in-the-Blank' Game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Word2Vec (Local Guessing): </a:t>
            </a:r>
            <a:r>
              <a:rPr b="0" sz="1100">
                <a:solidFill>
                  <a:srgbClr val="94A3B8"/>
                </a:solidFill>
              </a:rPr>
              <a:t>Like reading a book with a sliding magnifying glass that hides one word: 'The ___ sat on the mat'. The computer plays this guessing game billions of times until its internal word coordinates become razor sharp.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GloVe (Global Statistics): </a:t>
            </a:r>
            <a:r>
              <a:rPr b="0" sz="1100">
                <a:solidFill>
                  <a:srgbClr val="94A3B8"/>
                </a:solidFill>
              </a:rPr>
              <a:t>Like reading the entire encyclopedia once, building a giant chart counting which words co-occur near each other, and computing global probability ratios.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The Two Architectures of Word2Vec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CBOW (Continuous Bag of Words): </a:t>
            </a:r>
            <a:r>
              <a:rPr b="0" sz="1100">
                <a:solidFill>
                  <a:srgbClr val="94A3B8"/>
                </a:solidFill>
              </a:rPr>
              <a:t>Predicts the missing center word using context words. Faster, great for frequent words.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Skip-Gram: </a:t>
            </a:r>
            <a:r>
              <a:rPr b="0" sz="1100">
                <a:solidFill>
                  <a:srgbClr val="94A3B8"/>
                </a:solidFill>
              </a:rPr>
              <a:t>Takes the center word and predicts surrounding context words. Slower, superior for rare words.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Negative Sampling: </a:t>
            </a:r>
            <a:r>
              <a:rPr b="0" sz="1100">
                <a:solidFill>
                  <a:srgbClr val="94A3B8"/>
                </a:solidFill>
              </a:rPr>
              <a:t>Converts huge Softmax into fast binary classification against k randomly chosen noise 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Milestone Significance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2013 Breakthrough: </a:t>
            </a:r>
            <a:r>
              <a:rPr b="0" sz="1100">
                <a:solidFill>
                  <a:srgbClr val="94A3B8"/>
                </a:solidFill>
              </a:rPr>
              <a:t>Mikolov's Word2Vec sparked the modern deep learning revolution in NLP by giving neural nets pretrained semantic representations.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IV: EXTRACTING INTELLIGENCE  •  QUESTION 11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What is Named Entity Recognition? (NER)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Extracting and categorizing real-world objects from unstructured sentences.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The Secret Agent's Highlighter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Scanning the Dossier: </a:t>
            </a:r>
            <a:r>
              <a:rPr b="0" sz="1100">
                <a:solidFill>
                  <a:srgbClr val="94A3B8"/>
                </a:solidFill>
              </a:rPr>
              <a:t>An intelligence officer skims an intercepted message with 5 colored highlighters: Yellow for People, Blue for Companies, Green for Cities, Pink for Dollar amounts, and Orange for Dates.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Turning Text into Databases: </a:t>
            </a:r>
            <a:r>
              <a:rPr b="0" sz="1100">
                <a:solidFill>
                  <a:srgbClr val="94A3B8"/>
                </a:solidFill>
              </a:rPr>
              <a:t>Unstructured chatter becomes a clean database table: [Person: Elon Musk] [Company: SpaceX] [Location: Texas] [Date: Tuesday].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Sequence Labeling &amp; The IOB Scheme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Token Classification: </a:t>
            </a:r>
            <a:r>
              <a:rPr b="0" sz="1100">
                <a:solidFill>
                  <a:srgbClr val="94A3B8"/>
                </a:solidFill>
              </a:rPr>
              <a:t>Every single word token receives an entity label or 'O' (Outside).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IOB2 Tags: </a:t>
            </a:r>
            <a:r>
              <a:rPr b="0" sz="1100">
                <a:solidFill>
                  <a:srgbClr val="94A3B8"/>
                </a:solidFill>
              </a:rPr>
              <a:t>B-PER (Beginning of Person), I-PER (Inside Person), O (Outside entity).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Handling Multi-word Spans: </a:t>
            </a:r>
            <a:r>
              <a:rPr b="0" sz="1100">
                <a:solidFill>
                  <a:srgbClr val="94A3B8"/>
                </a:solidFill>
              </a:rPr>
              <a:t>'New' -&gt; B-GPE, 'York' -&gt; I-GPE. Allows models to know 'New York' is one entity.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Production Applications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Everywhere in Enterprise: </a:t>
            </a:r>
            <a:r>
              <a:rPr b="0" sz="1100">
                <a:solidFill>
                  <a:srgbClr val="94A3B8"/>
                </a:solidFill>
              </a:rPr>
              <a:t>Automating resume screening, parsing invoices and bank statements, extracting biomedical genes and drug interactions.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IV: EXTRACTING INTELLIGENCE  •  QUESTION 12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How to Analyze Sentiment?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Measuring emotional valence, polarity, and subjectivity from human reviews.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The Customer Mood Ring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Temperature of Opinion: </a:t>
            </a:r>
            <a:r>
              <a:rPr b="0" sz="1100">
                <a:solidFill>
                  <a:srgbClr val="94A3B8"/>
                </a:solidFill>
              </a:rPr>
              <a:t>A digital thermometer dipped into millions of tweets or reviews to measure whether the public mood is boiling with anger (-1.0) or glowing with happiness (+1.0).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The Tricky Negation Problem: </a:t>
            </a:r>
            <a:r>
              <a:rPr b="0" sz="1100">
                <a:solidFill>
                  <a:srgbClr val="94A3B8"/>
                </a:solidFill>
              </a:rPr>
              <a:t>If a customer writes 'The food was NOT good', a naive computer sees 'good' and smiles. A smart model notices the 'NOT' and flips the score completely!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The 3 Approaches to Sentiment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1. Lexicon-Based (VADER): </a:t>
            </a:r>
            <a:r>
              <a:rPr b="0" sz="1100">
                <a:solidFill>
                  <a:srgbClr val="94A3B8"/>
                </a:solidFill>
              </a:rPr>
              <a:t>Curated dictionaries with sentiment scores and punctuation/capitalization rules. Fast, no GPU needed.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2. Supervised ML: </a:t>
            </a:r>
            <a:r>
              <a:rPr b="0" sz="1100">
                <a:solidFill>
                  <a:srgbClr val="94A3B8"/>
                </a:solidFill>
              </a:rPr>
              <a:t>Training Logistic Regression on 5-star customer reviews using TF-IDF features.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3. Transformers (RoBERTa): </a:t>
            </a:r>
            <a:r>
              <a:rPr b="0" sz="1100">
                <a:solidFill>
                  <a:srgbClr val="94A3B8"/>
                </a:solidFill>
              </a:rPr>
              <a:t>Deep contextual attention understanding sarcasm, nuanced phrasing, and aspect-based opinions.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Real-World Use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Brand &amp; Stock Monitoring: </a:t>
            </a:r>
            <a:r>
              <a:rPr b="0" sz="1100">
                <a:solidFill>
                  <a:srgbClr val="94A3B8"/>
                </a:solidFill>
              </a:rPr>
              <a:t>Hedge funds monitor financial news sentiment in milliseconds; brands track customer service feedback.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IV: EXTRACTING INTELLIGENCE  •  QUESTION 13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What is Topic Modeling? (LDA)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Unsupervised discovery of abstract hidden themes across document collections.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The Automated Library Sorting Hat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Piles Without Labels: </a:t>
            </a:r>
            <a:r>
              <a:rPr b="0" sz="1100">
                <a:solidFill>
                  <a:srgbClr val="94A3B8"/>
                </a:solidFill>
              </a:rPr>
              <a:t>You are given 50,000 unlabelled articles. You have no idea what they are about. How do you sort them?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Recipes of Words: </a:t>
            </a:r>
            <a:r>
              <a:rPr b="0" sz="1100">
                <a:solidFill>
                  <a:srgbClr val="94A3B8"/>
                </a:solidFill>
              </a:rPr>
              <a:t>Topic modeling looks at word patterns and deduces: 'Whenever I see galaxy, telescope, and orbit, that's Topic A (Astronomy). Whenever I see inflation, stock, and bonds, that's Topic B (Finance)'.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Latent Dirichlet Allocation (LDA) Mechanics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Generative Assumption: </a:t>
            </a:r>
            <a:r>
              <a:rPr b="0" sz="1100">
                <a:solidFill>
                  <a:srgbClr val="94A3B8"/>
                </a:solidFill>
              </a:rPr>
              <a:t>Documents are mixtures of Topics; Topics are mixtures of Words.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Dirichlet Prior (Alpha): </a:t>
            </a:r>
            <a:r>
              <a:rPr b="0" sz="1100">
                <a:solidFill>
                  <a:srgbClr val="94A3B8"/>
                </a:solidFill>
              </a:rPr>
              <a:t>Controls whether documents contain one dominant topic or a blend of many.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Dirichlet Prior (Beta): </a:t>
            </a:r>
            <a:r>
              <a:rPr b="0" sz="1100">
                <a:solidFill>
                  <a:srgbClr val="94A3B8"/>
                </a:solidFill>
              </a:rPr>
              <a:t>Controls whether topics are focused on a few signature words or spread over many.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Inference via Gibbs Sampling: </a:t>
            </a:r>
            <a:r>
              <a:rPr b="0" sz="1100">
                <a:solidFill>
                  <a:srgbClr val="94A3B8"/>
                </a:solidFill>
              </a:rPr>
              <a:t>Iteratively reassigning words to topics until the overall probability converges.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Use Cases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Discovery: </a:t>
            </a:r>
            <a:r>
              <a:rPr b="0" sz="1100">
                <a:solidFill>
                  <a:srgbClr val="94A3B8"/>
                </a:solidFill>
              </a:rPr>
              <a:t>Unsupervised clustering of customer support tickets, legal discovery, and tracking research trends in academic papers.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IV: EXTRACTING INTELLIGENCE  •  QUESTION 14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How to Build a Text Classifier?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The end-to-end 5-step machine learning pipeline for automated categorization.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The Post Office Sorting Machine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Automated Mail Routing: </a:t>
            </a:r>
            <a:r>
              <a:rPr b="0" sz="1100">
                <a:solidFill>
                  <a:srgbClr val="94A3B8"/>
                </a:solidFill>
              </a:rPr>
              <a:t>Envelopes fly along a conveyor belt at 100 letters per second. An optical scanner reads the address, keywords, and stamps, and mechanical flaps instantly route each letter into 'Bills', 'Personal Mail', or 'Junk/Spam'.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Why Accuracy Can Lie: </a:t>
            </a:r>
            <a:r>
              <a:rPr b="0" sz="1100">
                <a:solidFill>
                  <a:srgbClr val="94A3B8"/>
                </a:solidFill>
              </a:rPr>
              <a:t>If 99% of emails are legitimate, a lazy machine that labels EVERYTHING as 'Not Spam' is 99% accurate—but it lets 100% of scams into your inbox!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The 5 Production Steps &amp; Evaluation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Step 1: Dataset: </a:t>
            </a:r>
            <a:r>
              <a:rPr b="0" sz="1100">
                <a:solidFill>
                  <a:srgbClr val="94A3B8"/>
                </a:solidFill>
              </a:rPr>
              <a:t>Clean labeled examples split into Train, Validation, and Test sets.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Step 2 &amp; 3: Prep &amp; Vectorize: </a:t>
            </a:r>
            <a:r>
              <a:rPr b="0" sz="1100">
                <a:solidFill>
                  <a:srgbClr val="94A3B8"/>
                </a:solidFill>
              </a:rPr>
              <a:t>Text cleaning followed by TF-IDF n-grams or dense embeddings.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Step 4: Model: </a:t>
            </a:r>
            <a:r>
              <a:rPr b="0" sz="1100">
                <a:solidFill>
                  <a:srgbClr val="94A3B8"/>
                </a:solidFill>
              </a:rPr>
              <a:t>Logistic Regression, Naive Bayes, LightGBM, or fine-tuned Transformer.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Step 5: Metrics (F1): </a:t>
            </a:r>
            <a:r>
              <a:rPr b="0" sz="1100">
                <a:solidFill>
                  <a:srgbClr val="94A3B8"/>
                </a:solidFill>
              </a:rPr>
              <a:t>Precision (avoid false alarms) vs Recall (catch all actual cases). F1 is their harmonic balance.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Everyday Applications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Essential Infrastructure: </a:t>
            </a:r>
            <a:r>
              <a:rPr b="0" sz="1100">
                <a:solidFill>
                  <a:srgbClr val="94A3B8"/>
                </a:solidFill>
              </a:rPr>
              <a:t>Email spam filtering, content moderation (detecting hate speech), and routing customer tickets.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ACT V: THE MODERN ERA &amp; FRONTIER  •  QUESTION 15 OF 15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What's Next in NLP?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From N-grams and Recurrence to Attention, Foundation Models, and Autonomous Agents.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💡  The Plain-English Metaphor: From Pocket Calculator to Thinking Partner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The Historical Leap: </a:t>
            </a:r>
            <a:r>
              <a:rPr b="0" sz="1100">
                <a:solidFill>
                  <a:srgbClr val="94A3B8"/>
                </a:solidFill>
              </a:rPr>
              <a:t>For 50 years, NLP was like a pocket calculator: you entered text, it looked up rigid rules or word counts, and gave a formulaic answer.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The Colleague Era: </a:t>
            </a:r>
            <a:r>
              <a:rPr b="0" sz="1100">
                <a:solidFill>
                  <a:srgbClr val="94A3B8"/>
                </a:solidFill>
              </a:rPr>
              <a:t>Modern Large Language Models (LLMs) act like a versatile human research colleague: they can write software, summarize 500-page books, verify facts, browse the web, and solve novel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⚙️  The 4 Pillars of the Modern Frontier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1. Self-Attention (Transformers): </a:t>
            </a:r>
            <a:r>
              <a:rPr b="0" sz="1100">
                <a:solidFill>
                  <a:srgbClr val="94A3B8"/>
                </a:solidFill>
              </a:rPr>
              <a:t>Replaced sequential RNNs with parallel attention, allowing models to learn long-range relationships simultaneously.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2. Test-Time Compute &amp; Reasoning: </a:t>
            </a:r>
            <a:r>
              <a:rPr b="0" sz="1100">
                <a:solidFill>
                  <a:srgbClr val="94A3B8"/>
                </a:solidFill>
              </a:rPr>
              <a:t>Models (o1, Gemini Thinking) that think before answering, creating internal verification chains of thought.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3. Autonomous Agentic Tool Use: </a:t>
            </a:r>
            <a:r>
              <a:rPr b="0" sz="1100">
                <a:solidFill>
                  <a:srgbClr val="94A3B8"/>
                </a:solidFill>
              </a:rPr>
              <a:t>Models that write and execute terminal commands, browse live websites, and orchestrate subagent teams.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4. Multimodal Foundation Models: </a:t>
            </a:r>
            <a:r>
              <a:rPr b="0" sz="1100">
                <a:solidFill>
                  <a:srgbClr val="94A3B8"/>
                </a:solidFill>
              </a:rPr>
              <a:t>Language unified seamlessly with vision, audio, code, and robotics action vectors.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F472B6"/>
                </a:solidFill>
              </a:defRPr>
            </a:pPr>
            <a:r>
              <a:t>🚀  The Future Horizon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Next 5 Years: </a:t>
            </a:r>
            <a:r>
              <a:rPr b="0" sz="1100">
                <a:solidFill>
                  <a:srgbClr val="94A3B8"/>
                </a:solidFill>
              </a:rPr>
              <a:t>Agentic pair programmers, automated scientific hypothesis generation, and hyper-personalized real-time intelligence.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THE GRAND SUMMARY</a:t>
            </a:r>
          </a:p>
          <a:p>
            <a:pPr>
              <a:spcAft>
                <a:spcPts val="2000"/>
              </a:spcAft>
              <a:defRPr sz="3200" b="1">
                <a:solidFill>
                  <a:srgbClr val="F8FAFC"/>
                </a:solidFill>
              </a:defRPr>
            </a:pPr>
            <a:r>
              <a:t>Mastering Natural Language Processing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34D399"/>
                </a:solidFill>
              </a:rPr>
              <a:t>1. Language is Probabilistic — </a:t>
            </a:r>
            <a:r>
              <a:rPr sz="1300">
                <a:solidFill>
                  <a:srgbClr val="94A3B8"/>
                </a:solidFill>
              </a:rPr>
              <a:t>Human speech is ambiguous and contextual. NLP replaces rigid if-else rules with learned statistical distributions.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34D399"/>
                </a:solidFill>
              </a:rPr>
              <a:t>2. Meaning is Geometric — </a:t>
            </a:r>
            <a:r>
              <a:rPr sz="1300">
                <a:solidFill>
                  <a:srgbClr val="94A3B8"/>
                </a:solidFill>
              </a:rPr>
              <a:t>Word embeddings and vector spaces give human concepts physical coordinates where distance equals semantic relationship.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34D399"/>
                </a:solidFill>
              </a:rPr>
              <a:t>3. Preprocessing Shapes Quality — </a:t>
            </a:r>
            <a:r>
              <a:rPr sz="1300">
                <a:solidFill>
                  <a:srgbClr val="94A3B8"/>
                </a:solidFill>
              </a:rPr>
              <a:t>Garbage in, garbage out. Proper tokenization, cleaning, and normalization dictate model performance.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34D399"/>
                </a:solidFill>
              </a:rPr>
              <a:t>4. The Transformer Changed Everything — </a:t>
            </a:r>
            <a:r>
              <a:rPr sz="1300">
                <a:solidFill>
                  <a:srgbClr val="94A3B8"/>
                </a:solidFill>
              </a:rPr>
              <a:t>Self-attention unlocked internet-scale pretraining, transforming NLP from narrow classification into general reasoning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